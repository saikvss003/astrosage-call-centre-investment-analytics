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77" r:id="rId16"/>
    <p:sldId id="278" r:id="rId17"/>
    <p:sldId id="279" r:id="rId18"/>
    <p:sldId id="28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per day</c:v>
                </c:pt>
              </c:strCache>
            </c:strRef>
          </c:tx>
          <c:spPr>
            <a:ln w="31750" cap="flat">
              <a:solidFill>
                <a:srgbClr val="F0B429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Sheet1!$A$2:$A$35</c:f>
              <c:strCache>
                <c:ptCount val="34"/>
                <c:pt idx="0">
                  <c:v>Dec 1</c:v>
                </c:pt>
                <c:pt idx="1">
                  <c:v>Dec 2</c:v>
                </c:pt>
                <c:pt idx="2">
                  <c:v>Dec 3</c:v>
                </c:pt>
                <c:pt idx="3">
                  <c:v>Dec 4</c:v>
                </c:pt>
                <c:pt idx="4">
                  <c:v>Dec 5</c:v>
                </c:pt>
                <c:pt idx="5">
                  <c:v>Dec 6</c:v>
                </c:pt>
                <c:pt idx="6">
                  <c:v>Dec 7</c:v>
                </c:pt>
                <c:pt idx="7">
                  <c:v>Dec 8</c:v>
                </c:pt>
                <c:pt idx="8">
                  <c:v>Dec 9</c:v>
                </c:pt>
                <c:pt idx="9">
                  <c:v>Dec 10</c:v>
                </c:pt>
                <c:pt idx="10">
                  <c:v>Dec 11</c:v>
                </c:pt>
                <c:pt idx="11">
                  <c:v>Dec 12</c:v>
                </c:pt>
                <c:pt idx="12">
                  <c:v>Dec 13</c:v>
                </c:pt>
                <c:pt idx="13">
                  <c:v>Dec 14</c:v>
                </c:pt>
                <c:pt idx="14">
                  <c:v>Dec 15</c:v>
                </c:pt>
                <c:pt idx="15">
                  <c:v>Dec 16</c:v>
                </c:pt>
                <c:pt idx="16">
                  <c:v>Dec 17</c:v>
                </c:pt>
                <c:pt idx="17">
                  <c:v>Dec 18</c:v>
                </c:pt>
                <c:pt idx="18">
                  <c:v>Dec 19</c:v>
                </c:pt>
                <c:pt idx="19">
                  <c:v>Dec 20</c:v>
                </c:pt>
                <c:pt idx="20">
                  <c:v>Dec 21</c:v>
                </c:pt>
                <c:pt idx="21">
                  <c:v>Dec 22</c:v>
                </c:pt>
                <c:pt idx="22">
                  <c:v>Dec 23</c:v>
                </c:pt>
                <c:pt idx="23">
                  <c:v>Dec 24</c:v>
                </c:pt>
                <c:pt idx="24">
                  <c:v>Dec 25</c:v>
                </c:pt>
                <c:pt idx="25">
                  <c:v>Dec 26</c:v>
                </c:pt>
                <c:pt idx="26">
                  <c:v>Dec 27</c:v>
                </c:pt>
                <c:pt idx="27">
                  <c:v>Dec 28</c:v>
                </c:pt>
                <c:pt idx="28">
                  <c:v>Dec 29</c:v>
                </c:pt>
                <c:pt idx="29">
                  <c:v>Dec 30</c:v>
                </c:pt>
                <c:pt idx="30">
                  <c:v>Dec 31</c:v>
                </c:pt>
                <c:pt idx="31">
                  <c:v>Jan 1</c:v>
                </c:pt>
                <c:pt idx="32">
                  <c:v>Jan 2</c:v>
                </c:pt>
                <c:pt idx="33">
                  <c:v>Jan 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185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260</c:v>
                </c:pt>
                <c:pt idx="29">
                  <c:v>179</c:v>
                </c:pt>
                <c:pt idx="30">
                  <c:v>158</c:v>
                </c:pt>
                <c:pt idx="31">
                  <c:v>115</c:v>
                </c:pt>
                <c:pt idx="32">
                  <c:v>196</c:v>
                </c:pt>
                <c:pt idx="33">
                  <c:v>107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03D-4769-88E9-BB1167671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3B8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225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December 2023</c:v>
                </c:pt>
                <c:pt idx="1">
                  <c:v>January 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7947</c:v>
                </c:pt>
                <c:pt idx="1">
                  <c:v>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7-4E8D-B77E-C60BA6EEE0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3B8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225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B42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07-48FE-87FD-FA039D767AC0}"/>
              </c:ext>
            </c:extLst>
          </c:dPt>
          <c:dPt>
            <c:idx val="1"/>
            <c:bubble3D val="0"/>
            <c:spPr>
              <a:solidFill>
                <a:srgbClr val="8B8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07-48FE-87FD-FA039D767AC0}"/>
              </c:ext>
            </c:extLst>
          </c:dPt>
          <c:dPt>
            <c:idx val="2"/>
            <c:bubble3D val="0"/>
            <c:spPr>
              <a:solidFill>
                <a:srgbClr val="C7C9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07-48FE-87FD-FA039D767AC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B4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07-48FE-87FD-FA039D767AC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B4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B07-48FE-87FD-FA039D767AC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B4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07-48FE-87FD-FA039D767AC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Call · ₹1,68,442</c:v>
                </c:pt>
                <c:pt idx="1">
                  <c:v>Chat · ₹45,495</c:v>
                </c:pt>
                <c:pt idx="2">
                  <c:v>Public Live · ₹51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168442</c:v>
                </c:pt>
                <c:pt idx="1">
                  <c:v>45495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07-48FE-87FD-FA039D767A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7C9F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7C9F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7C9F2"/>
                </a:solidFill>
                <a:latin typeface="Arial"/>
              </a:rPr>
              <a:t>Rating distribution (out of 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solidFill>
              <a:srgbClr val="5C56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0–2</c:v>
                </c:pt>
                <c:pt idx="1">
                  <c:v>3–4</c:v>
                </c:pt>
                <c:pt idx="2">
                  <c:v>5–6</c:v>
                </c:pt>
                <c:pt idx="3">
                  <c:v>7–8</c:v>
                </c:pt>
                <c:pt idx="4">
                  <c:v>9–10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13784</c:v>
                </c:pt>
                <c:pt idx="1">
                  <c:v>6539</c:v>
                </c:pt>
                <c:pt idx="2">
                  <c:v>3998</c:v>
                </c:pt>
                <c:pt idx="3">
                  <c:v>3706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61-4974-833C-A8934BF425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3B8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225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7C9F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7C9F2"/>
                </a:solidFill>
                <a:latin typeface="Arial"/>
              </a:rPr>
              <a:t>Best vs worst guru ratings (of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Tarot Mystical</c:v>
                </c:pt>
                <c:pt idx="1">
                  <c:v>Astro Pujaa Rai</c:v>
                </c:pt>
                <c:pt idx="2">
                  <c:v>Daljit Kaur</c:v>
                </c:pt>
                <c:pt idx="3">
                  <c:v>Astro Reema</c:v>
                </c:pt>
                <c:pt idx="4">
                  <c:v>Acharya Divyansh</c:v>
                </c:pt>
                <c:pt idx="5">
                  <c:v>Astro K Ojha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7.5</c:v>
                </c:pt>
                <c:pt idx="1">
                  <c:v>7.5</c:v>
                </c:pt>
                <c:pt idx="2">
                  <c:v>5.9</c:v>
                </c:pt>
                <c:pt idx="3">
                  <c:v>5.9</c:v>
                </c:pt>
                <c:pt idx="4">
                  <c:v>0.39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40-48B0-BDB9-E5129E5578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403B8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225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7C9F2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C7C9F2"/>
                </a:solidFill>
                <a:latin typeface="Arial"/>
              </a:rPr>
              <a:t>Outcome share by channel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Failed</c:v>
                </c:pt>
                <c:pt idx="2">
                  <c:v>Incomplete</c:v>
                </c:pt>
                <c:pt idx="3">
                  <c:v>No-answer</c:v>
                </c:pt>
                <c:pt idx="4">
                  <c:v>Busy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40.4</c:v>
                </c:pt>
                <c:pt idx="1">
                  <c:v>14.2</c:v>
                </c:pt>
                <c:pt idx="2">
                  <c:v>10.199999999999999</c:v>
                </c:pt>
                <c:pt idx="3">
                  <c:v>20.2</c:v>
                </c:pt>
                <c:pt idx="4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2-44B8-8047-799B80DD96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Chats</c:v>
                </c:pt>
              </c:strCache>
            </c:strRef>
          </c:tx>
          <c:spPr>
            <a:solidFill>
              <a:srgbClr val="8B87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Failed</c:v>
                </c:pt>
                <c:pt idx="2">
                  <c:v>Incomplete</c:v>
                </c:pt>
                <c:pt idx="3">
                  <c:v>No-answer</c:v>
                </c:pt>
                <c:pt idx="4">
                  <c:v>Busy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28.4</c:v>
                </c:pt>
                <c:pt idx="1">
                  <c:v>37.200000000000003</c:v>
                </c:pt>
                <c:pt idx="2">
                  <c:v>34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02-44B8-8047-799B80DD96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03B86"/>
              </a:solidFill>
              <a:prstDash val="solid"/>
              <a:round/>
            </a:ln>
          </c:spPr>
        </c:majorGridlines>
        <c:numFmt formatCode="0\%" sourceLinked="0"/>
        <c:majorTickMark val="out"/>
        <c:minorTickMark val="none"/>
        <c:tickLblPos val="nextTo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225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7C9F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7C9F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7C9F2"/>
                </a:solidFill>
                <a:latin typeface="Arial"/>
              </a:rPr>
              <a:t>Investment split (₹ Lakh, total =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Lakh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Call Operations Optimisation</c:v>
                </c:pt>
                <c:pt idx="1">
                  <c:v>Chat Experience Enhancement</c:v>
                </c:pt>
                <c:pt idx="2">
                  <c:v>Call Technology Upgrade</c:v>
                </c:pt>
                <c:pt idx="3">
                  <c:v>Customer Satisfaction Programs</c:v>
                </c:pt>
                <c:pt idx="4">
                  <c:v>Complementary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A-469E-B72C-52BC1792B3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403B8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403B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C9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225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225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74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104453"/>
            <a:ext cx="7223760" cy="4947607"/>
          </a:xfrm>
          <a:prstGeom prst="ellipse">
            <a:avLst/>
          </a:prstGeom>
          <a:ln w="19050">
            <a:solidFill>
              <a:srgbClr val="F0B429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7380" y="530352"/>
            <a:ext cx="5856732" cy="4087368"/>
          </a:xfrm>
          <a:prstGeom prst="ellipse">
            <a:avLst/>
          </a:prstGeom>
          <a:ln w="12700">
            <a:solidFill>
              <a:srgbClr val="8B87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24" y="1140537"/>
            <a:ext cx="4516608" cy="3220447"/>
          </a:xfrm>
          <a:prstGeom prst="ellipse">
            <a:avLst/>
          </a:prstGeom>
          <a:ln w="9525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1814" y="2508709"/>
            <a:ext cx="262932" cy="11693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2" name="Shape 10"/>
          <p:cNvSpPr/>
          <p:nvPr/>
        </p:nvSpPr>
        <p:spPr>
          <a:xfrm>
            <a:off x="1847088" y="786032"/>
            <a:ext cx="100584" cy="100584"/>
          </a:xfrm>
          <a:prstGeom prst="ellipse">
            <a:avLst/>
          </a:prstGeom>
          <a:solidFill>
            <a:srgbClr val="8B87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4617720"/>
            <a:ext cx="82296" cy="82296"/>
          </a:xfrm>
          <a:prstGeom prst="ellipse">
            <a:avLst/>
          </a:prstGeom>
          <a:solidFill>
            <a:srgbClr val="C7C9F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037576" y="2895483"/>
            <a:ext cx="502920" cy="50292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2896362" y="1803698"/>
            <a:ext cx="328041" cy="32804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440679" y="695296"/>
            <a:ext cx="362243" cy="3622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8813" y="104453"/>
            <a:ext cx="5577840" cy="59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PROJECT  ·  CALL CENTER OPTIMIZATION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337560" y="1481328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 Sage Analysis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3601328" y="2286000"/>
            <a:ext cx="48111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Allocating a ₹1 crore investment with data operational efficiency, customer satisfaction &amp; profitability.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14997" y="3419856"/>
            <a:ext cx="5485060" cy="32708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037076" y="356387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Kvss Bharadwaj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06 /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1029" y="672084"/>
            <a:ext cx="5130800" cy="4178808"/>
          </a:xfrm>
          <a:prstGeom prst="ellipse">
            <a:avLst/>
          </a:prstGeom>
          <a:solidFill>
            <a:srgbClr val="2B2768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ASTROSAGE  ·  CALL CENTER ANALYTICS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476" y="516636"/>
            <a:ext cx="8490204" cy="746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78.7%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AstroSage's revenue comes from calls alone, </a:t>
            </a:r>
            <a:r>
              <a:rPr lang="en-US" sz="13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the average customer rating sits at just 2.9 out of 10.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AstroSage has received a ₹1 crore investment to transform its call center operations. This study analyzes 28,027 cleaned consultation records (Dec 2023 – Jan 2024) call volumes, costs, guru performance and ratings to decide where every rupee should go.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137160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1645920"/>
            <a:ext cx="475488" cy="47548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64792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94960" y="1481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the Data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394960" y="1755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historical call data, performance metrics and market trends to surface what drives volume, cost and satisfaction.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26280" y="256032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27448" y="2834640"/>
            <a:ext cx="475488" cy="47548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53512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94960" y="2670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₹1 Crore Wisely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5394960" y="29443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between hiring more agents, improving training programs, or upgrading call center technology backed by evidence.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526280" y="374904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27448" y="4023360"/>
            <a:ext cx="475488" cy="47548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142232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94960" y="3858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Business Impact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5394960" y="4133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operational efficiency, lift customer satisfaction, and grow profitability across every consultation type.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7772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4864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105156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7432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08760"/>
            <a:ext cx="2121408" cy="49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28,027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1978396"/>
            <a:ext cx="2121408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consultation records (Dec 1, 2023 – Jan 3, 2024)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14173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508760"/>
            <a:ext cx="2121408" cy="49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→ 29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1978396"/>
            <a:ext cx="2121408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after dropping 6 ID / system columns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752344"/>
            <a:ext cx="2121408" cy="49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8,365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3221980"/>
            <a:ext cx="2121408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calls tracked via unique CallSid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2660904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2752344"/>
            <a:ext cx="2121408" cy="49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00400" y="3221980"/>
            <a:ext cx="2121408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gurus (astrologers) serving customers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904488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995928"/>
            <a:ext cx="2121408" cy="49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" y="4465564"/>
            <a:ext cx="2121408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continuous operations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3904488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0" y="3995928"/>
            <a:ext cx="2121408" cy="49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00400" y="4465564"/>
            <a:ext cx="2121408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columns driving segmentation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146304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1568196"/>
            <a:ext cx="210312" cy="2103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245352" y="14264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Performed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245352" y="16824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system columns (_id, user, guru, isWhiteListUser, queue, statementEntryId); searched &amp; deleted duplicate records.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23560" y="242316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16" y="2528316"/>
            <a:ext cx="210312" cy="21031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245352" y="238658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Checks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6245352" y="264261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timestamps, validated statuses, and handled missing values before any pivot analysis.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623560" y="338328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16" y="3488436"/>
            <a:ext cx="210312" cy="21031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245352" y="33467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Data Matters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6245352" y="360273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captures every consultation touchpoint volume, duration, earnings, ratings the exact levers a ₹1 Cr investment must move.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7432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86868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96012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ANALYSIS WAS DONE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-1188720" y="3657600"/>
            <a:ext cx="2926080" cy="2926080"/>
          </a:xfrm>
          <a:prstGeom prst="ellipse">
            <a:avLst/>
          </a:prstGeom>
          <a:solidFill>
            <a:srgbClr val="2B276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6304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627632"/>
            <a:ext cx="402336" cy="402336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28216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16152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Clean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" y="2103120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ID columns, remove duplicates, fix inconsistencies → 'Cleaned data' sheet.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01568" y="146304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84448" y="1627632"/>
            <a:ext cx="402336" cy="402336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7282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14800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Pivot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584448" y="2103120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PivotTables for daily / monthly volumes, earnings, ratings and consultation types.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0216" y="146304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83096" y="1627632"/>
            <a:ext cx="402336" cy="402336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2821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13448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Aggregate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83096" y="2103120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COUNTIF, SUMIF, AVERAGE, COLUMNS &amp; CORREL for conditional metrics and correlation.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" y="317296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5800" y="3337560"/>
            <a:ext cx="402336" cy="402336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438144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16152" y="3374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Analyze Trends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85800" y="381304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change in call volume, peak/off-peak hours, and month-wise patterns.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401568" y="317296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584448" y="3337560"/>
            <a:ext cx="402336" cy="402336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32" y="3438144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14800" y="3374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Dashboard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3584448" y="381304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with KPI cards and slicers (gid, website, consultation type).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300216" y="317296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483096" y="3337560"/>
            <a:ext cx="402336" cy="402336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438144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13448" y="3374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Recommend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6483096" y="381304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findings into a justified ₹1 crore allocation across 5 initiatives.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ANALYSIS · CALL VOLUME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Call Volume &amp; Day-by-Day Change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2807002443"/>
              </p:ext>
            </p:extLst>
          </p:nvPr>
        </p:nvGraphicFramePr>
        <p:xfrm>
          <a:off x="101600" y="1426464"/>
          <a:ext cx="616204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6400800" y="1417320"/>
            <a:ext cx="2240280" cy="896112"/>
          </a:xfrm>
          <a:prstGeom prst="roundRect">
            <a:avLst>
              <a:gd name="adj" fmla="val 7143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1508760"/>
            <a:ext cx="1965960" cy="41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37960" y="1883298"/>
            <a:ext cx="1965960" cy="39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calls per day across the 34-day window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2450592"/>
            <a:ext cx="2240280" cy="896112"/>
          </a:xfrm>
          <a:prstGeom prst="roundRect">
            <a:avLst>
              <a:gd name="adj" fmla="val 7143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2542032"/>
            <a:ext cx="1965960" cy="41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 ▲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37960" y="2916570"/>
            <a:ext cx="1965960" cy="39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day - Dec 10 (largest +142 daily jump)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0" y="3483864"/>
            <a:ext cx="2240280" cy="1344168"/>
          </a:xfrm>
          <a:prstGeom prst="roundRect">
            <a:avLst>
              <a:gd name="adj" fmla="val 7143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37960" y="3575304"/>
            <a:ext cx="1965960" cy="41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▼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37960" y="3949842"/>
            <a:ext cx="1965960" cy="39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day - Jan 3, post-festive cooldown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7772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4864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105156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7432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ANALYSIS · SEASONALITY &amp;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Volumes &amp; Operational Cost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648889142"/>
              </p:ext>
            </p:extLst>
          </p:nvPr>
        </p:nvGraphicFramePr>
        <p:xfrm>
          <a:off x="58057" y="1463040"/>
          <a:ext cx="4559663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5029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Cost (Astrologer Earnings)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1828800"/>
            <a:ext cx="3611880" cy="841248"/>
          </a:xfrm>
          <a:prstGeom prst="roundRect">
            <a:avLst>
              <a:gd name="adj" fmla="val 7609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6360" y="1920240"/>
            <a:ext cx="3337560" cy="38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₹93,786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166360" y="2266249"/>
            <a:ext cx="3337560" cy="37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out in December 2023 - the high-volume month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2779776"/>
            <a:ext cx="3611880" cy="841248"/>
          </a:xfrm>
          <a:prstGeom prst="roundRect">
            <a:avLst>
              <a:gd name="adj" fmla="val 7609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6360" y="2871216"/>
            <a:ext cx="3337560" cy="38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₹5,360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66360" y="3217225"/>
            <a:ext cx="3337560" cy="37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out in January 2024 - volumes (and costs) collapsed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730752"/>
            <a:ext cx="3611880" cy="1097280"/>
          </a:xfrm>
          <a:prstGeom prst="roundRect">
            <a:avLst>
              <a:gd name="adj" fmla="val 7609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166360" y="3822192"/>
            <a:ext cx="3337560" cy="38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₹99,147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166360" y="4168201"/>
            <a:ext cx="3337560" cy="37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operational cost across the analysis window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7432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86868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96012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ANALYSIS · REVENUE MIX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Comes From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440308522"/>
              </p:ext>
            </p:extLst>
          </p:nvPr>
        </p:nvGraphicFramePr>
        <p:xfrm>
          <a:off x="65314" y="1371599"/>
          <a:ext cx="4808438" cy="3577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627632" y="2542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₹2.14 L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74920" y="155448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76" y="165963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6712" y="151790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carry the business - 78.7%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96712" y="177393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₹1,68,442 of ₹2,13,987 net revenue flows from voice consultations. Protecting call quality is protecting revenue.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74920" y="260604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076" y="271119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96712" y="256946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is an underused asset - 21.3%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696712" y="282549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₹45,495 from chat despite massive failure rates. Fixing chat is the cheapest growth lever available.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74920" y="365760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076" y="3762756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96712" y="36210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&amp; live ≈ 0%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696712" y="387705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consultations earn nothing directly - their job is onboarding users into paid funnels. Today that conversion is invisible.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ANALYSIS · SATISFACTION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 Runs Low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683135352"/>
              </p:ext>
            </p:extLst>
          </p:nvPr>
        </p:nvGraphicFramePr>
        <p:xfrm>
          <a:off x="123371" y="1335024"/>
          <a:ext cx="4768669" cy="3679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029200" y="146304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66360" y="1554480"/>
            <a:ext cx="14630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166360" y="1962302"/>
            <a:ext cx="14630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overall (out of 10)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03720" y="146304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1554480"/>
            <a:ext cx="14630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2.95→2.68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040880" y="1962302"/>
            <a:ext cx="14630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→ Jan: satisfaction slipped further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0" y="2560319"/>
            <a:ext cx="3611880" cy="1013155"/>
          </a:xfrm>
          <a:prstGeom prst="roundRect">
            <a:avLst>
              <a:gd name="adj" fmla="val 700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66360" y="26517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+0.481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166360" y="30358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call duration &amp; rating - longer, unhurried consultations genuinely satisfy customers more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361188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every experience is a bad one. </a:t>
            </a:r>
            <a:r>
              <a:rPr lang="en-US" sz="11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13,784 of 28,027 consultations (≈49%) are rated 2 or below, a service-quality red flag that no top line of revenue can hide.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7772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4864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105156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7432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ANALYSIS · LOYALTY &amp; WORKLOAD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Callers &amp; Agent Workload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8685" y="899887"/>
            <a:ext cx="5341257" cy="4122056"/>
          </a:xfrm>
          <a:prstGeom prst="ellipse">
            <a:avLst/>
          </a:prstGeom>
          <a:solidFill>
            <a:srgbClr val="2B2768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63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56.63%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calls come from repeat callers. </a:t>
            </a:r>
            <a:r>
              <a:rPr lang="en-US" sz="12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1,275 of 3,628 callers (35.1%) phoned in more than once loyalty is real, but they keep returning to a 2.9 rated experience.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508760"/>
            <a:ext cx="37033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00600" y="1797710"/>
            <a:ext cx="370332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handled per day on average across the 34-day window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25856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350008"/>
            <a:ext cx="37033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00600" y="2638958"/>
            <a:ext cx="370332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gurus taking calls over the period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99816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191256"/>
            <a:ext cx="37033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4.7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00600" y="3480206"/>
            <a:ext cx="370332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per repeat caller loyal users phone in nearly five times each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941064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4032504"/>
            <a:ext cx="37033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3,628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800600" y="4321454"/>
            <a:ext cx="370332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callers reached through voice in just over a month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7432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86868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96012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INSIGHT 1 OF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Hire More Agents?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613916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147218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ratings say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24712" y="172821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per guru (gid) splits the bench sharply: a handful sit at 5.9 – 7.5, while many languish below 2 including gurus with 100+ consultations.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60604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2711196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24712" y="256946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are overloaded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124712" y="282549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High-rated gurus attract disproportionate volume, creating dependency risk: if a top performer leaves, satisfaction and revenue leave with them.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370332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380847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" y="366674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24712" y="392277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simply add headcount. Re-balance load with smart routing first, hire selectively only where peak-hour demand (6 AM – 4 PM) outstrips supply.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627668950"/>
              </p:ext>
            </p:extLst>
          </p:nvPr>
        </p:nvGraphicFramePr>
        <p:xfrm>
          <a:off x="4736594" y="1170432"/>
          <a:ext cx="4269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INSIGHT 2 OF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Training Moves the Needle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46304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" y="16002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calls · High ratings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" y="1920240"/>
            <a:ext cx="3639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mastery + strong communication. These gurus are your training blueprint capture and codify what they 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27448" y="146304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16002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calls · High ratings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28616" y="1920240"/>
            <a:ext cx="3639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quality, slow tools or process. Don't retrain give them better tech and templates.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" y="32644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calls · Low ratings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" y="3584448"/>
            <a:ext cx="3639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Rushed, scripted handling. Coach on depth and empathy, pair with top performers.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3127248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8616" y="32644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5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calls · Low ratings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28616" y="3584448"/>
            <a:ext cx="3639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gaps in queries &amp; domain knowledge the priority cohort for structured training programs.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7772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4864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105156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7432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INSIGHT 3 OF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Case Is Loudest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794130328"/>
              </p:ext>
            </p:extLst>
          </p:nvPr>
        </p:nvGraphicFramePr>
        <p:xfrm>
          <a:off x="87086" y="1463040"/>
          <a:ext cx="5399314" cy="3551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623560" y="1463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1554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71%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0720" y="19385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chats end failed or incomplete, broken flows and bot/agent handoffs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23560" y="251460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2606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8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35%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760720" y="29900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calls hit no-answer or busy, contactability, not demand, is the problem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23560" y="3611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retry timing, caller-ID trust and chat escalation are technology problems, no amount of hiring fixes them.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7432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86868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96012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₹1 Crore Allocation Plan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103239" y="1463040"/>
          <a:ext cx="5428881" cy="3558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06440" y="155448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16596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232" y="151790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78.7%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28232" y="1773936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share goes to the channel that earns the most - AI routing, skill-based allocation, workforce tools.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806440" y="256032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266547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8232" y="252374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leakiest funnel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28232" y="2779776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 L attacks the 71% chat failure rate - Building chatbots, scripts, SLAs and agent QA.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806440" y="356616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96" y="3671316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28232" y="352958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the loyalty back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428232" y="3785616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 L + ₹15 L + ₹5 L lift satisfaction, technology and onboarding - converting repeat traffic into delight.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Rupee Buys and Returns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" y="1554480"/>
            <a:ext cx="384048" cy="38404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650492"/>
            <a:ext cx="192024" cy="1920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61288" y="15819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Ops · ₹45 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7512" y="2002536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 routing, skill-based allocation, off-peak optimisation. Impact: fewer no-answer/busy outcomes, higher revenue per guru hour.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3401568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66160" y="1554480"/>
            <a:ext cx="384048" cy="38404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1650492"/>
            <a:ext cx="192024" cy="1920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59936" y="15819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· ₹25 L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566160" y="2002536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First-level chatbots, response templates, faster SLAs, agent QA. Impact: completion up from 28%, unlocking a low-cost revenue channel.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>
            <a:off x="6300216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64808" y="1554480"/>
            <a:ext cx="384048" cy="38404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650492"/>
            <a:ext cx="192024" cy="1920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58584" y="15819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₹15 L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64808" y="2002536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integration, speech &amp; sentiment analytics, cloud call-center stack. Impact: unified customer view, smarter retries, less manual work.</a:t>
            </a:r>
            <a:endParaRPr lang="en-US" sz="930" dirty="0"/>
          </a:p>
        </p:txBody>
      </p:sp>
      <p:sp>
        <p:nvSpPr>
          <p:cNvPr id="26" name="Shape 21"/>
          <p:cNvSpPr/>
          <p:nvPr/>
        </p:nvSpPr>
        <p:spPr>
          <a:xfrm>
            <a:off x="502920" y="3172968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7512" y="3310128"/>
            <a:ext cx="384048" cy="38404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3406140"/>
            <a:ext cx="192024" cy="1920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61288" y="3337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· ₹15 L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67512" y="375818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programs, repeat-user incentives, personalised recommendations, feedback loops. Impact: rating climbs from 2.9 toward 5+.</a:t>
            </a:r>
            <a:endParaRPr lang="en-US" sz="930" dirty="0"/>
          </a:p>
        </p:txBody>
      </p:sp>
      <p:sp>
        <p:nvSpPr>
          <p:cNvPr id="31" name="Shape 25"/>
          <p:cNvSpPr/>
          <p:nvPr/>
        </p:nvSpPr>
        <p:spPr>
          <a:xfrm>
            <a:off x="3401568" y="3172968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B2768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566160" y="3310128"/>
            <a:ext cx="384048" cy="38404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172" y="3406140"/>
            <a:ext cx="192024" cy="1920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59936" y="3337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· ₹5 L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566160" y="375818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live sessions and onboarding consultations. Impact: trust-building funnel that converts free users into paying ones.</a:t>
            </a:r>
            <a:endParaRPr lang="en-US" sz="930" dirty="0"/>
          </a:p>
        </p:txBody>
      </p:sp>
      <p:sp>
        <p:nvSpPr>
          <p:cNvPr id="36" name="Shape 29"/>
          <p:cNvSpPr/>
          <p:nvPr/>
        </p:nvSpPr>
        <p:spPr>
          <a:xfrm>
            <a:off x="6300216" y="3172968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353170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64808" y="3310128"/>
            <a:ext cx="384048" cy="384048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820" y="3406140"/>
            <a:ext cx="192024" cy="1920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58584" y="3337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Effect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6464808" y="375818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Efficiency, satisfaction and profitability move together; each initiative reinforces the others across the same 8,365-call engine.</a:t>
            </a:r>
            <a:endParaRPr lang="en-US" sz="9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7772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4864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105156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7432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5745" y="31340"/>
            <a:ext cx="9038253" cy="741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&amp; Visualizations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6253" y="43065"/>
            <a:ext cx="7151494" cy="2926080"/>
          </a:xfrm>
          <a:prstGeom prst="ellipse">
            <a:avLst/>
          </a:prstGeom>
          <a:solidFill>
            <a:srgbClr val="2B2768">
              <a:alpha val="45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349240" y="4178808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394839-55F9-4EA7-DB62-220BA60F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744542"/>
            <a:ext cx="9144000" cy="43989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7432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86868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96012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99616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9105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4630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are the business: 78.7% of revenue, ₹1.68 L of ₹2.14 L protect and optimise this channel first.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304288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9572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26771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is the broken growth engine: 71% failure/incomplete is a fixable technology and process problem.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3108960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0040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0723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(2.93/10) is the existential risk, yet 71.9% repeat traffic proves customers want to stay.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3913632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00507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87705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₹1 Cr split 45/25/15/15/5 funds exactly these gaps, in order of revenue at stake.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897880" y="146304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2B276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16916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26480" y="22860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has spoken; the stars now need the systems to match.”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12648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efficiency, fix the funnels, and the 2.9 becomes a 5+ star with revenue to show for it.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530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2606" y="187089"/>
            <a:ext cx="7118394" cy="4640943"/>
          </a:xfrm>
          <a:prstGeom prst="ellipse">
            <a:avLst/>
          </a:prstGeom>
          <a:solidFill>
            <a:srgbClr val="2B2768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1874519"/>
            <a:ext cx="3840480" cy="221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Sincere thanks to my mentors and program instructors for guidance on analytical methodology and dashboard design.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Gratitude to peers who reviewed the pivot logic and the recommendations.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840480" cy="2653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AstroSage call-center dataset - - (Dec 2023 – Jan 2024), provided as project data 28,027 cleaned records.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- - PivotTables, COUNTIF / SUMIF / CORREL, charts &amp; slicers.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C7C9F2"/>
                </a:solidFill>
                <a:latin typeface="Arial" pitchFamily="34" charset="0"/>
                <a:cs typeface="Arial" pitchFamily="34" charset="-120"/>
              </a:rPr>
              <a:t>c</a:t>
            </a: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leaned data, 17 analysis sheets and interactive dashboard.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Document - - full written analysis, approaches and justifications.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"/>
            <a:ext cx="45720" cy="45720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640080"/>
            <a:ext cx="32004" cy="32004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0" y="777240"/>
            <a:ext cx="36576" cy="36576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143000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384048"/>
            <a:ext cx="27432" cy="27432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292608"/>
            <a:ext cx="41148" cy="41148"/>
          </a:xfrm>
          <a:prstGeom prst="ellipse">
            <a:avLst/>
          </a:prstGeom>
          <a:solidFill>
            <a:srgbClr val="F0B429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57200"/>
            <a:ext cx="36576" cy="36576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005840"/>
            <a:ext cx="27432" cy="27432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389120"/>
            <a:ext cx="41148" cy="41148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640080"/>
            <a:ext cx="32004" cy="32004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4480560"/>
            <a:ext cx="36576" cy="36576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548640"/>
            <a:ext cx="27432" cy="27432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27432" cy="27432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3108960"/>
            <a:ext cx="32004" cy="32004"/>
          </a:xfrm>
          <a:prstGeom prst="ellipse">
            <a:avLst/>
          </a:prstGeom>
          <a:solidFill>
            <a:srgbClr val="F0B429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65208" y="95869"/>
            <a:ext cx="5794160" cy="4911198"/>
          </a:xfrm>
          <a:prstGeom prst="ellipse">
            <a:avLst/>
          </a:prstGeom>
          <a:ln w="15875">
            <a:solidFill>
              <a:srgbClr val="F0B42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3219650" y="713230"/>
            <a:ext cx="4290710" cy="3717037"/>
          </a:xfrm>
          <a:prstGeom prst="ellipse">
            <a:avLst/>
          </a:prstGeom>
          <a:ln w="12700">
            <a:solidFill>
              <a:srgbClr val="8B87E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2528" y="54819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325474" y="313182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5554" y="978404"/>
            <a:ext cx="4900486" cy="43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 SAGE ANALYSIS  ·  KVSS BHARADWAJ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6289" y="1060262"/>
            <a:ext cx="7991711" cy="186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22" name="Text 19"/>
          <p:cNvSpPr/>
          <p:nvPr/>
        </p:nvSpPr>
        <p:spPr>
          <a:xfrm>
            <a:off x="276814" y="3205112"/>
            <a:ext cx="5920786" cy="26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challenges and deeper dives into the data are most welcome.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7" y="3703320"/>
            <a:ext cx="2839575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1595</Words>
  <Application>Microsoft Office PowerPoint</Application>
  <PresentationFormat>On-screen Show (16:9)</PresentationFormat>
  <Paragraphs>203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 Sage Analysis</dc:title>
  <dc:subject>PptxGenJS Presentation</dc:subject>
  <dc:creator>Kvss Bharadwaj</dc:creator>
  <cp:lastModifiedBy>sai bharadwaj</cp:lastModifiedBy>
  <cp:revision>5</cp:revision>
  <dcterms:created xsi:type="dcterms:W3CDTF">2026-06-15T14:44:41Z</dcterms:created>
  <dcterms:modified xsi:type="dcterms:W3CDTF">2026-06-26T20:43:18Z</dcterms:modified>
</cp:coreProperties>
</file>